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83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 nell'analisi e visualizzazione dei dati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DI STUDIO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Predire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sopravvive.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640080" y="4983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caso Titanic come palestra di ragionamento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nel Machine Learning supervisionato.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6080760"/>
            <a:ext cx="365760" cy="228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ELVIRA TOMIZZI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C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Studentessa · IFOA Bologna · 2025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N° 01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60120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APRILE 1912 </a:t>
            </a:r>
            <a:r>
              <a:rPr lang="en-US" sz="900" i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APRILE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D9C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Nelle prime ore del 15 aprile 1912,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Titanic affondò dopo aver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colpito un iceberg.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4160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Delle 2.224 persone a bordo,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71600" y="4709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710 sopravvissero.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371600" y="5760720"/>
            <a:ext cx="36576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200" dirty="0">
                <a:solidFill>
                  <a:srgbClr val="D9C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 registri storici della White Star 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PREMESSA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codice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 è il punto.</a:t>
            </a:r>
            <a:endParaRPr lang="en-US" sz="84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91440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Imparare ML non significa imparare scikit-learn.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 imparare a pensare con i dati. Ogni riga di codice nasconde una decisione: perché questa feature, perché questa metrica, perché questo modello. Il valore di un'analista non sta nel saper scrivere fit-predict — sta nel saper rispondere a queste domande.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365760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significa saperlo raccontare.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modello che funziona ma che non sai spiegare a chi non è tecnico è un modello che non verrà mai messo in produzione. Saper presentare il ragionamento — in azienda, in un colloquio, davanti a uno stakeholder — è importante quanto saperlo eseguire.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vintage_ma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0"/>
            <a:ext cx="62179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CASO STUDIO · CAPITOLO 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raccontano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numeri.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45720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108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2.224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45720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persone a bordo del transatlantico più grande mai costruito.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710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457200" y="5715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sopravvissuti — appena il 32%. La domanda è: chi? E perché?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D9C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· CAPITOLO II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le caratteristiche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2468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 un passeggero 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kern="0" spc="2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età · sesso · classe · famiglia · tariffa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possiamo prevedere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è sopravvissuto?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5852160" y="6263640"/>
            <a:ext cx="45720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binaria supervisionata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DEL RAGIONAMENTO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Otto domande,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otto risposte.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54864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Esplorazione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abbiamo davanti?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32461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22376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Dati mancanti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manca, e perché?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7160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parlare al modello?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40233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2376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/ Test split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2376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testare onestamente?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371600" y="4846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 modelli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algoritmo è meglio?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8006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23760" y="4846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Tuning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22376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Possiamo fare meglio?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5778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371600" y="5623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371600" y="5943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mette in produzione?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55778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223760" y="5623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Interpretazione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223760" y="5943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abbiamo imparato?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I · ESPLORAZIONE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rima di costruire un modello,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 capire i tuoi dati.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91440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buon analista passa il 60% del tempo qui. Non sui modelli.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L'esplorazione (Exploratory Data Analysis) non è un passaggio da liquidare in fretta: è dove nascono le intuizioni, dove si decide cosa droppare e cosa tenere, dove si scoprono pattern che il modello poi confermerà.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5120640" cy="246888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11 colonne del dataset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survived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21040" y="4434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4434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0" y="46817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pclass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681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07040" y="46817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1·2·3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492861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49286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607040" y="49286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51755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51755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07040" y="51755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5422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sibsp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5422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fratelli/coniugi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07040" y="54223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5669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5669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genitori/figli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07040" y="5669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5916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5916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tariffa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607040" y="5916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0" y="61630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embarked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21040" y="61630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607040" y="61630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C·Q·S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ceber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2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D9C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II · DATI MANCANTI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dati che mancano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sono come un iceberg.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73152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4747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Quello che vedi è solo la superficie.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Sotto c'è una struttura più grande: </a:t>
            </a: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perché</a:t>
            </a:r>
            <a:r>
              <a:rPr lang="en-US" sz="1400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quel dato manca?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domanda istintiva è «come lo riempio?». La domanda corretta è «come mai non c'è?». Imputare un valore senza capire la causa significa introdurre rumore — o peggio, bias sistematico.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II · UNA TASSONOMIA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tipi di assenza.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73152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sigla che impari oggi è MCAR / MAR / MNAR — ma il punto è il ragionamento dietro.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3657600" cy="338328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108960"/>
            <a:ext cx="36576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MCAR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manca a caso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36576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97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valore manca senza relazione con altre variabili. È il caso più benigno — qualsiasi imputazione ragionevole funziona.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5715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 Titanic: «embarked» manca solo in 2 righe → drop.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61688" y="3108960"/>
            <a:ext cx="3657600" cy="338328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1688" y="3108960"/>
            <a:ext cx="3657600" cy="73152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36008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manca per ragioni note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36008" y="4160520"/>
            <a:ext cx="365760" cy="18288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4297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valore manca in modo correlato ad altre feature osservate. Possiamo imputare usando le altre informazioni.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36008" y="5715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 Titanic: «age» manca per ~20% → interpolazione.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66176" y="3108960"/>
            <a:ext cx="3657600" cy="338328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66176" y="3108960"/>
            <a:ext cx="36576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0496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MNAR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40496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manca sistematicamente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40496" y="41605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0496" y="4297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valore manca per ragioni legate al valore stesso. Imputare introduce bias — meglio droppare la colonna.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40496" y="5715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 Titanic: «cabin» manca per il 77% → drop.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III · L'INSIGHT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«Donne e bambini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prima»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297680" y="212140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è statisticamente vero.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73152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delle donne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27432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303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sopravvissero. Il sesso è il predittore più forte, in tutte le classi sociali.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61688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4361688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degli uomini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61688" y="5212080"/>
            <a:ext cx="274320" cy="1828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5303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sopravvissero. Una differenza di 55 punti percentuali rispetto alle donne.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66176" y="35204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i="1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9600" dirty="0"/>
          </a:p>
        </p:txBody>
      </p:sp>
      <p:sp>
        <p:nvSpPr>
          <p:cNvPr id="18" name="Text 16"/>
          <p:cNvSpPr/>
          <p:nvPr/>
        </p:nvSpPr>
        <p:spPr>
          <a:xfrm>
            <a:off x="8266176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prima classe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66176" y="5212080"/>
            <a:ext cx="274320" cy="18288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5303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sopravvissero, contro il 24% della terza. Le cabine erano vicine al ponte.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 numeri li ho trovati prima di costruire qualsiasi modello. Il modello non scopre — conferma.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IV · FEATURE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scale ingannano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 algoritmi.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73152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feature da 0–500 dominerà sempre una da 0–8. La normalizzazione è giustizia algoritmica.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eterogenee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4572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80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4645152"/>
            <a:ext cx="994867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83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983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512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5056632"/>
            <a:ext cx="3108960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394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sibsp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5394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5468112"/>
            <a:ext cx="248717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806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806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5879592"/>
            <a:ext cx="186538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StandardScaler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4572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  σ=1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0" y="4645152"/>
            <a:ext cx="1097280" cy="16459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983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4983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  σ=1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86800" y="5056632"/>
            <a:ext cx="1097280" cy="16459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5394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sibsp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5394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  σ=1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686800" y="5468112"/>
            <a:ext cx="1097280" cy="16459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5806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5806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  σ=1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686800" y="5879592"/>
            <a:ext cx="1097280" cy="16459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3931920"/>
            <a:ext cx="18288" cy="2377440"/>
          </a:xfrm>
          <a:prstGeom prst="rect">
            <a:avLst/>
          </a:prstGeom>
          <a:solidFill>
            <a:srgbClr val="D9CCAE"/>
          </a:solidFill>
          <a:ln w="12700">
            <a:solidFill>
              <a:srgbClr val="D9CCA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D9C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IV · ATTENZIONE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L'errore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più costoso del ML.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73152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chiama data leakage. Il modello impara dai dati di test senza che tu te ne accorga.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5486400" cy="2286000"/>
          </a:xfrm>
          <a:prstGeom prst="rect">
            <a:avLst/>
          </a:prstGeom>
          <a:solidFill>
            <a:srgbClr val="1A2E48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SBAGLIATO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scaler.fit_transform(X)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 = split(X)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440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scaler ha già visto tutto. La performance misurata è gonfiata e non riflette la realtà.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4114800"/>
            <a:ext cx="5486400" cy="2286000"/>
          </a:xfrm>
          <a:prstGeom prst="rect">
            <a:avLst/>
          </a:prstGeom>
          <a:solidFill>
            <a:srgbClr val="1A2E4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CORRETTO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 = split(X)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scaler.fit(X_train)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scaler.transform(X_test)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57607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test è davvero non visto. La performance è quella reale, l'unica che conta in produzione.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V · MODEL 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 modelli,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 punti di vista.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73152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Ogni algoritmo «vede» i dati in modo diverso. Non c'è un vincitore universale.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divisione per soglie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interpretabile, veloce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86784"/>
            <a:ext cx="11247120" cy="0"/>
          </a:xfrm>
          <a:prstGeom prst="line">
            <a:avLst/>
          </a:prstGeom>
          <a:noFill/>
          <a:ln w="6350">
            <a:solidFill>
              <a:srgbClr val="D9CC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142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0142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4014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di alberi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4014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robusto, poco overfitting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11247120" cy="0"/>
          </a:xfrm>
          <a:prstGeom prst="line">
            <a:avLst/>
          </a:prstGeom>
          <a:noFill/>
          <a:ln w="6350">
            <a:solidFill>
              <a:srgbClr val="D9CC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708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370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4370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alberi sequenziali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370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accuratezza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00016"/>
            <a:ext cx="11247120" cy="0"/>
          </a:xfrm>
          <a:prstGeom prst="line">
            <a:avLst/>
          </a:prstGeom>
          <a:noFill/>
          <a:ln w="6350">
            <a:solidFill>
              <a:srgbClr val="D9CC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274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727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727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boosting + regolarizzazione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4727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spesso state-of-the-art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056632"/>
            <a:ext cx="11247120" cy="0"/>
          </a:xfrm>
          <a:prstGeom prst="line">
            <a:avLst/>
          </a:prstGeom>
          <a:noFill/>
          <a:ln w="6350">
            <a:solidFill>
              <a:srgbClr val="D9CC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0840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5084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50840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frontiera lineare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5084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veloce e interpretabile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413248"/>
            <a:ext cx="11247120" cy="0"/>
          </a:xfrm>
          <a:prstGeom prst="line">
            <a:avLst/>
          </a:prstGeom>
          <a:noFill/>
          <a:ln w="6350">
            <a:solidFill>
              <a:srgbClr val="D9CC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440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71600" y="5440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approccio probabilistico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03920" y="5440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buono con poco data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769864"/>
            <a:ext cx="11247120" cy="0"/>
          </a:xfrm>
          <a:prstGeom prst="line">
            <a:avLst/>
          </a:prstGeom>
          <a:noFill/>
          <a:ln w="6350">
            <a:solidFill>
              <a:srgbClr val="D9CC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79729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371600" y="57972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54880" y="5797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voto dei vicini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03920" y="57972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semplice, no training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6350">
            <a:solidFill>
              <a:srgbClr val="D9CC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1539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371600" y="6153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 (RBF)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54880" y="6153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iperpiano ottimo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03920" y="6153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potente, non lineare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VI · VALUTAZIONE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 tutti gli errori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costano uguale.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73152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predetto: morto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23360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predetto: sopravv.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3383280"/>
            <a:ext cx="1691640" cy="1188720"/>
          </a:xfrm>
          <a:prstGeom prst="rect">
            <a:avLst/>
          </a:prstGeom>
          <a:solidFill>
            <a:srgbClr val="1A6B4F"/>
          </a:solidFill>
          <a:ln w="25400">
            <a:solidFill>
              <a:srgbClr val="FAF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3172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3383280"/>
            <a:ext cx="1691640" cy="1188720"/>
          </a:xfrm>
          <a:prstGeom prst="rect">
            <a:avLst/>
          </a:prstGeom>
          <a:solidFill>
            <a:srgbClr val="B85042"/>
          </a:solidFill>
          <a:ln w="25400">
            <a:solidFill>
              <a:srgbClr val="FAF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02336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tipo 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31720" y="4572000"/>
            <a:ext cx="1691640" cy="1188720"/>
          </a:xfrm>
          <a:prstGeom prst="rect">
            <a:avLst/>
          </a:prstGeom>
          <a:solidFill>
            <a:srgbClr val="C4763E"/>
          </a:solidFill>
          <a:ln w="25400">
            <a:solidFill>
              <a:srgbClr val="FAF4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4754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331720" y="5257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tipo II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23360" y="4572000"/>
            <a:ext cx="1691640" cy="1188720"/>
          </a:xfrm>
          <a:prstGeom prst="rect">
            <a:avLst/>
          </a:prstGeom>
          <a:solidFill>
            <a:srgbClr val="1A6B4F"/>
          </a:solidFill>
          <a:ln w="25400">
            <a:solidFill>
              <a:srgbClr val="FAF4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4754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023360" y="5257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reale: morto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983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reale: sopravv.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3383280"/>
            <a:ext cx="4846320" cy="310896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da porsi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Quale errore costa di più?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040880" y="443484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45720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 medica</a:t>
            </a: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un FN è grave: paziente non diagnosticato.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Filtro spam</a:t>
            </a: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un FP è grave: email importante in spam.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Frode bancaria</a:t>
            </a:r>
            <a:r>
              <a:rPr lang="en-US" sz="11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dipende dal costo dell'investigazione.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VI · OLTRE L'ACCURACY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L'accuracy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può mentire.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73152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paradosso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99% non frodi, 1% frodi.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modello stupido che predice sempre «non frode» raggiunge il </a:t>
            </a:r>
            <a:r>
              <a:rPr lang="en-US" sz="13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 di accuracy</a:t>
            </a: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ma cattura </a:t>
            </a:r>
            <a:r>
              <a:rPr lang="en-US" sz="13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frodi</a:t>
            </a: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È inutile in produzione.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486400" cy="310896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 AUC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0" y="4251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misura quanto bene il modello distingue le classi, indipendentemente dalla soglia scelta.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5212080"/>
            <a:ext cx="5029200" cy="109728"/>
          </a:xfrm>
          <a:prstGeom prst="rect">
            <a:avLst/>
          </a:prstGeom>
          <a:solidFill>
            <a:srgbClr val="D9CCAE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5175504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5175504"/>
            <a:ext cx="182880" cy="1828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5175504"/>
            <a:ext cx="182880" cy="182880"/>
          </a:xfrm>
          <a:prstGeom prst="ellipse">
            <a:avLst/>
          </a:prstGeom>
          <a:solidFill>
            <a:srgbClr val="1A6B4F"/>
          </a:solidFill>
          <a:ln w="12700">
            <a:solidFill>
              <a:srgbClr val="1A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5440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5669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32520" y="5440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0" y="5669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5440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0" y="5669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perfetto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6080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modelli del Titanic raggiungono AUC ~0.85+.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VII · VALIDAZIONE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misurazione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 basta.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73152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split 70/30 dipende da quali righe finiscono nei due gruppi. È un risultato che dipende dalla fortuna.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657600"/>
            <a:ext cx="1920240" cy="384048"/>
          </a:xfrm>
          <a:prstGeom prst="rect">
            <a:avLst/>
          </a:prstGeom>
          <a:solidFill>
            <a:srgbClr val="B85042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36576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36576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36576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32520" y="36576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835640" y="3657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1148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7480" y="4114800"/>
            <a:ext cx="1920240" cy="384048"/>
          </a:xfrm>
          <a:prstGeom prst="rect">
            <a:avLst/>
          </a:prstGeom>
          <a:solidFill>
            <a:srgbClr val="B85042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41148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41148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32520" y="41148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35640" y="4114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 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45720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572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97480" y="45720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4572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4572000"/>
            <a:ext cx="1920240" cy="384048"/>
          </a:xfrm>
          <a:prstGeom prst="rect">
            <a:avLst/>
          </a:prstGeom>
          <a:solidFill>
            <a:srgbClr val="B85042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572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20840" y="45720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572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732520" y="45720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32520" y="4572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835640" y="4572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 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" y="50292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029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97480" y="50292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97480" y="5029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50292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5029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20840" y="5029200"/>
            <a:ext cx="1920240" cy="384048"/>
          </a:xfrm>
          <a:prstGeom prst="rect">
            <a:avLst/>
          </a:prstGeom>
          <a:solidFill>
            <a:srgbClr val="B85042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0840" y="5029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732520" y="50292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32520" y="5029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835640" y="50292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 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800" y="54864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5486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697480" y="54864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97480" y="5486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09160" y="54864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5486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720840" y="5486400"/>
            <a:ext cx="1920240" cy="384048"/>
          </a:xfrm>
          <a:prstGeom prst="rect">
            <a:avLst/>
          </a:prstGeom>
          <a:solidFill>
            <a:srgbClr val="0A2540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5486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732520" y="5486400"/>
            <a:ext cx="1920240" cy="384048"/>
          </a:xfrm>
          <a:prstGeom prst="rect">
            <a:avLst/>
          </a:prstGeom>
          <a:solidFill>
            <a:srgbClr val="B85042"/>
          </a:solidFill>
          <a:ln w="19050">
            <a:solidFill>
              <a:srgbClr val="FAF4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32520" y="5486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835640" y="5486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 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media dei 5 score è la stima onesta. La deviazione standard dice se il modello è stabile.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VIII · PRODUZIONE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 codice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prodotto.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73152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pipeline scikit-learn non è eleganza. È sopravvivenza.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169164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49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3886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423160" y="3749040"/>
            <a:ext cx="1691640" cy="77724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3749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3886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251960" y="3749040"/>
            <a:ext cx="1691640" cy="77724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3749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97880" y="3886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080760" y="3749040"/>
            <a:ext cx="1691640" cy="77724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749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26680" y="3886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909560" y="3749040"/>
            <a:ext cx="1691640" cy="77724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3749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55480" y="3886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38360" y="3749040"/>
            <a:ext cx="169164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8360" y="3749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Senza data leakage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440680"/>
            <a:ext cx="2743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5321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ogni fit avviene solo sul training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19272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22192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Riproducibile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19272" y="5440680"/>
            <a:ext cx="2743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55321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stesso ordine, stessi parametri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81344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84264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Deployabile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81344" y="5440680"/>
            <a:ext cx="2743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55321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salvi tutto in un .pkl con joblib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043416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546336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Manutenibile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043416" y="5440680"/>
            <a:ext cx="2743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43416" y="55321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oggetto invece di 20 step manuali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IX · INTERPRETAZIONE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modello ha imparato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storia. Senza che gliela raccontassi.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73152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sex_male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3383280"/>
            <a:ext cx="5029200" cy="201168"/>
          </a:xfrm>
          <a:prstGeom prst="rect">
            <a:avLst/>
          </a:prstGeom>
          <a:solidFill>
            <a:srgbClr val="D9CCAE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383280"/>
            <a:ext cx="5029200" cy="2011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sesso pesa quasi metà del modello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30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3822192"/>
            <a:ext cx="5029200" cy="201168"/>
          </a:xfrm>
          <a:prstGeom prst="rect">
            <a:avLst/>
          </a:prstGeom>
          <a:solidFill>
            <a:srgbClr val="D9CCAE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3822192"/>
            <a:ext cx="2155371" cy="2011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37307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3730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tariffa = classe sociale = posizione cabina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696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4261104"/>
            <a:ext cx="5029200" cy="201168"/>
          </a:xfrm>
          <a:prstGeom prst="rect">
            <a:avLst/>
          </a:prstGeom>
          <a:solidFill>
            <a:srgbClr val="D9CCAE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4261104"/>
            <a:ext cx="1796143" cy="2011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5280" y="41696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bambini erano prioritari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08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03120" y="4700016"/>
            <a:ext cx="5029200" cy="201168"/>
          </a:xfrm>
          <a:prstGeom prst="rect">
            <a:avLst/>
          </a:prstGeom>
          <a:solidFill>
            <a:srgbClr val="D9CCAE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03120" y="4700016"/>
            <a:ext cx="1436914" cy="2011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46085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55280" y="46085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1ª classe vicina al ponte e alle scialuppe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047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sibsp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03120" y="5138928"/>
            <a:ext cx="5029200" cy="201168"/>
          </a:xfrm>
          <a:prstGeom prst="rect">
            <a:avLst/>
          </a:prstGeom>
          <a:solidFill>
            <a:srgbClr val="D9CCAE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03120" y="5138928"/>
            <a:ext cx="718457" cy="2011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5047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955280" y="5047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famiglie numerose si separavano malvolentieri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03120" y="5577840"/>
            <a:ext cx="5029200" cy="201168"/>
          </a:xfrm>
          <a:prstGeom prst="rect">
            <a:avLst/>
          </a:prstGeom>
          <a:solidFill>
            <a:srgbClr val="D9CCAE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03120" y="5577840"/>
            <a:ext cx="478971" cy="2011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5486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955280" y="5486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viaggiare con bambini cambia le scelte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5925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embarked_S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103120" y="6016752"/>
            <a:ext cx="5029200" cy="201168"/>
          </a:xfrm>
          <a:prstGeom prst="rect">
            <a:avLst/>
          </a:prstGeom>
          <a:solidFill>
            <a:srgbClr val="D9CCAE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3120" y="6016752"/>
            <a:ext cx="239486" cy="2011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59253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955280" y="5925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porto d'imbarco — segnale residuo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X · APPLICAZIONI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stesso schema,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ovunque.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73152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Titanic è del 1912. Il metodo è del 2026.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3657600" cy="128016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94760"/>
            <a:ext cx="365760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scoring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«Questo cliente restituirà il prestito?»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61688" y="3794760"/>
            <a:ext cx="3657600" cy="128016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1688" y="3794760"/>
            <a:ext cx="365760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TELCO/SAAS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90288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prediction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90288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«Questo utente sta per disdire?»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66176" y="3794760"/>
            <a:ext cx="3657600" cy="128016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6176" y="3794760"/>
            <a:ext cx="365760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94776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 predittiva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94776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«Questo paziente ha la condizione X?»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212080"/>
            <a:ext cx="3657600" cy="128016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212080"/>
            <a:ext cx="365760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376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" y="5623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detection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5989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«Questa transazione è legittima?»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61688" y="5212080"/>
            <a:ext cx="3657600" cy="128016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61688" y="5212080"/>
            <a:ext cx="365760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0288" y="5376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90288" y="5623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model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90288" y="5989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«Questo lead diventerà cliente?»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66176" y="5212080"/>
            <a:ext cx="3657600" cy="1280160"/>
          </a:xfrm>
          <a:prstGeom prst="rect">
            <a:avLst/>
          </a:prstGeom>
          <a:solidFill>
            <a:srgbClr val="F5EDDC"/>
          </a:solidFill>
          <a:ln w="12700">
            <a:solidFill>
              <a:srgbClr val="D9CCA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66176" y="5212080"/>
            <a:ext cx="365760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94776" y="5376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94776" y="5623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Attrition model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94776" y="5989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«Questo dipendente lascerà l'azienda?»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D9C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IFOA · IFTS  —  Tecnico nell'analisi e visualizzazione dei dati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2144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EPILOGO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cose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portare a casa.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73152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371600" y="3703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dato non parla da solo.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 interrogato. Le domande giuste vengono prima del codice — perché manca, cosa significa, cosa stiamo davvero misurando.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4663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modello è solo una parte.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Pulizia, encoding, scaling, validazione, interpretazione: ogni passo è una decisione. Saper fare scikit-learn non basta.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5577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371600" y="5623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Saperlo spiegare è metà del lavoro.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6035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C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modello che funziona ma che non sai raccontare a chi non è tecnico è un modello che non verrà mai messo in produzione.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36576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ELVIRA TOMIZZI · IFOA BOLOGNA · elv.tomizzi@gmail.com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1876</Words>
  <Application>Microsoft Office PowerPoint</Application>
  <PresentationFormat>Widescreen</PresentationFormat>
  <Paragraphs>429</Paragraphs>
  <Slides>20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ML — Il ragionamento dietro il codice</dc:title>
  <dc:subject>PptxGenJS Presentation</dc:subject>
  <dc:creator>Elvira Tomizzi</dc:creator>
  <cp:lastModifiedBy>elvira tomizzi</cp:lastModifiedBy>
  <cp:revision>3</cp:revision>
  <dcterms:created xsi:type="dcterms:W3CDTF">2026-05-10T16:36:29Z</dcterms:created>
  <dcterms:modified xsi:type="dcterms:W3CDTF">2026-05-10T17:12:44Z</dcterms:modified>
</cp:coreProperties>
</file>